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40" r:id="rId5"/>
    <p:sldId id="357" r:id="rId6"/>
    <p:sldId id="341" r:id="rId7"/>
    <p:sldId id="350" r:id="rId8"/>
    <p:sldId id="358" r:id="rId9"/>
    <p:sldId id="359" r:id="rId10"/>
    <p:sldId id="360" r:id="rId11"/>
    <p:sldId id="362" r:id="rId12"/>
    <p:sldId id="363" r:id="rId13"/>
    <p:sldId id="364" r:id="rId14"/>
    <p:sldId id="365" r:id="rId15"/>
    <p:sldId id="367" r:id="rId16"/>
    <p:sldId id="368" r:id="rId17"/>
    <p:sldId id="369" r:id="rId18"/>
    <p:sldId id="370" r:id="rId19"/>
    <p:sldId id="372" r:id="rId20"/>
    <p:sldId id="35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 autoAdjust="0"/>
  </p:normalViewPr>
  <p:slideViewPr>
    <p:cSldViewPr snapToGrid="0">
      <p:cViewPr varScale="1">
        <p:scale>
          <a:sx n="106" d="100"/>
          <a:sy n="106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5701-1DE4-C3C0-1BD6-7F861C5B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CAC6F-641F-34B3-C8BA-483E5F91E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17770-1406-76DE-7CBB-0C90294D7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4E174-9E71-9B16-F0D9-C5C7716D3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88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973654"/>
            <a:ext cx="10571998" cy="2451101"/>
          </a:xfrm>
        </p:spPr>
        <p:txBody>
          <a:bodyPr/>
          <a:lstStyle/>
          <a:p>
            <a:pPr lvl="0"/>
            <a:r>
              <a:rPr lang="en-IN" dirty="0"/>
              <a:t>Beyond the Likes: </a:t>
            </a:r>
            <a:br>
              <a:rPr lang="en-IN" dirty="0"/>
            </a:br>
            <a:r>
              <a:rPr lang="en-IN" dirty="0"/>
              <a:t>Social Media Analytics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C1C6-C9FB-2E33-81C0-5751D688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5D38-BA12-7B65-7708-F880FF65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A986-E111-37E1-1B4E-7069B304D1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69941" y="924340"/>
            <a:ext cx="5961225" cy="5009322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Social media is an integral part of today’s digital world, generating enormous amounts of data every day.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However, this data is often stored in complex and structured formats, making it difficult to view, interpret, and derive meaningful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Social Media Analytics using </a:t>
            </a:r>
            <a:r>
              <a:rPr lang="en-IN" b="1" dirty="0"/>
              <a:t>SQL</a:t>
            </a:r>
            <a:r>
              <a:rPr lang="en-IN" dirty="0"/>
              <a:t> transforms raw social media data into clear and meaningful insights.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8580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br>
              <a:rPr lang="en-US" dirty="0"/>
            </a:br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Data-Driven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Analyze User Activity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Measure Post Engagement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Analyze Follower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Discover Trending Hashtags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Measure Engagement Rate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Analyze Posting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Compare Country-wise Performance</a:t>
            </a:r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7DFA-9278-9CB6-C5BC-520AB10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08" y="531891"/>
            <a:ext cx="4399089" cy="463990"/>
          </a:xfrm>
        </p:spPr>
        <p:txBody>
          <a:bodyPr/>
          <a:lstStyle/>
          <a:p>
            <a:pPr lvl="0"/>
            <a:r>
              <a:rPr lang="en-US" noProof="0" dirty="0"/>
              <a:t>Most Active Users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9B507-232E-7585-FA32-6C00E2F11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911" y="1533632"/>
            <a:ext cx="4657725" cy="2105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84EBB1-77F8-19C3-34E5-29457BB36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911" y="3805851"/>
            <a:ext cx="6416085" cy="2585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64F0C8-18BB-5EC2-8EC0-D358889E925E}"/>
              </a:ext>
            </a:extLst>
          </p:cNvPr>
          <p:cNvSpPr txBox="1"/>
          <p:nvPr/>
        </p:nvSpPr>
        <p:spPr>
          <a:xfrm>
            <a:off x="426408" y="1533632"/>
            <a:ext cx="46435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Used SQL Aggregation and Join to identify the most active users.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The analysis highlights the Top 10 active users based on their combined posts and comments.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Users with higher combined activity can be considered highly engaged users.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These users actively create content and participate in discussions.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cs typeface="Times New Roman" panose="02020603050405020304" pitchFamily="18" charset="0"/>
              </a:rPr>
              <a:t>The activity data can further be used to classify users into different user types based on their level of engagement.</a:t>
            </a:r>
          </a:p>
        </p:txBody>
      </p:sp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8B00918-FA57-CCA0-01D1-90D1BB2B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Type of End user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9A861-FF58-7688-94D6-2C74F097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811" y="591888"/>
            <a:ext cx="5667469" cy="30890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98C927-17C5-D353-8B6D-85A844FF221F}"/>
              </a:ext>
            </a:extLst>
          </p:cNvPr>
          <p:cNvSpPr txBox="1"/>
          <p:nvPr/>
        </p:nvSpPr>
        <p:spPr>
          <a:xfrm>
            <a:off x="5318909" y="3762375"/>
            <a:ext cx="60975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Content Creator =Content Score&gt;Discussion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Discussion Creator = Discussion Score &gt; Content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Highly Engaged User =Both Scores equal &gt;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Inactive = Both Score = 0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76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CC53-9528-4B93-FC9A-FB69D8CD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19100"/>
            <a:ext cx="10571998" cy="5715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Most Liked Post &amp; their Creators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9F5EC5-59BC-AE22-B09A-659ABB4A1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74" y="3100096"/>
            <a:ext cx="7040164" cy="3155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7BD37A2-CCBB-0D9B-78B6-5AB20290AA7B}"/>
              </a:ext>
            </a:extLst>
          </p:cNvPr>
          <p:cNvSpPr/>
          <p:nvPr/>
        </p:nvSpPr>
        <p:spPr>
          <a:xfrm>
            <a:off x="845508" y="1220077"/>
            <a:ext cx="2600325" cy="1113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Used</a:t>
            </a:r>
            <a:endParaRPr lang="en-IN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3927AC6-44A2-E921-79BE-4BD97684D764}"/>
              </a:ext>
            </a:extLst>
          </p:cNvPr>
          <p:cNvSpPr/>
          <p:nvPr/>
        </p:nvSpPr>
        <p:spPr>
          <a:xfrm>
            <a:off x="1865014" y="2381061"/>
            <a:ext cx="561315" cy="5977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D123169-3219-FF30-9737-C4ABA7E140DB}"/>
              </a:ext>
            </a:extLst>
          </p:cNvPr>
          <p:cNvSpPr/>
          <p:nvPr/>
        </p:nvSpPr>
        <p:spPr>
          <a:xfrm>
            <a:off x="3865830" y="4146488"/>
            <a:ext cx="697117" cy="543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1CB144-E78C-00DF-F0A7-A9402084F22C}"/>
              </a:ext>
            </a:extLst>
          </p:cNvPr>
          <p:cNvSpPr txBox="1"/>
          <p:nvPr/>
        </p:nvSpPr>
        <p:spPr>
          <a:xfrm>
            <a:off x="4562947" y="1168185"/>
            <a:ext cx="67176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Used group by &amp; Join to find top 10 liked content along with the username and their like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Top-performing posts received only 6 likes, showing relatively low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3 posts are tied at the highest likes, so there is no single post dominating the engagement.</a:t>
            </a:r>
            <a:endParaRPr lang="en-IN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AA6949-3ABA-393B-7A67-CEF20CECE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32" y="3239915"/>
            <a:ext cx="2978071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1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16" grpId="0" animBg="1"/>
      <p:bldP spid="1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2795-E93F-5773-633B-838D56ACE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85800"/>
            <a:ext cx="10571998" cy="391562"/>
          </a:xfrm>
        </p:spPr>
        <p:txBody>
          <a:bodyPr/>
          <a:lstStyle/>
          <a:p>
            <a:r>
              <a:rPr lang="en-US" dirty="0"/>
              <a:t>Top 5 Countries by Average Engagement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B7F83-F59A-35C2-7AFE-0F9822047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7" y="3063796"/>
            <a:ext cx="3971925" cy="3324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6915A0-562A-4B9E-24B6-9B5819834FAB}"/>
              </a:ext>
            </a:extLst>
          </p:cNvPr>
          <p:cNvSpPr txBox="1"/>
          <p:nvPr/>
        </p:nvSpPr>
        <p:spPr>
          <a:xfrm>
            <a:off x="615636" y="1584356"/>
            <a:ext cx="47892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Aggregation and join to find out average likes per post by country by joining users ,posts, likes, aggregating likes at the post level, and then averaging those post-level  like counts by country.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3AC70F-93DB-A62D-4875-E90C9957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63796"/>
            <a:ext cx="5530568" cy="332422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C7D3812-FA2A-EE76-6441-A0B5260865C2}"/>
              </a:ext>
            </a:extLst>
          </p:cNvPr>
          <p:cNvSpPr/>
          <p:nvPr/>
        </p:nvSpPr>
        <p:spPr>
          <a:xfrm>
            <a:off x="4925085" y="4083113"/>
            <a:ext cx="1077363" cy="6427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330A51-52BE-F745-AC29-53E177232BF4}"/>
              </a:ext>
            </a:extLst>
          </p:cNvPr>
          <p:cNvSpPr txBox="1"/>
          <p:nvPr/>
        </p:nvSpPr>
        <p:spPr>
          <a:xfrm>
            <a:off x="6002448" y="1747319"/>
            <a:ext cx="5573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Uzbekistan leads in average engagement with 3.5 likes per post, outperforming the other countries in the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402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8124-C5CE-3E70-F645-A74C8E2B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94B4842-ECE2-2F4D-DCB5-9079317D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Trending Hashtags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CA79B8-BB03-D9ED-05F4-6C8B67068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958" y="497469"/>
            <a:ext cx="2600325" cy="32194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0BF19A-4856-5D84-CE3B-61A60C6EAF8D}"/>
              </a:ext>
            </a:extLst>
          </p:cNvPr>
          <p:cNvSpPr/>
          <p:nvPr/>
        </p:nvSpPr>
        <p:spPr>
          <a:xfrm>
            <a:off x="4943192" y="1665838"/>
            <a:ext cx="2272420" cy="114979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Used</a:t>
            </a:r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3996AA2-6C0B-FC25-530A-226CAB8CC256}"/>
              </a:ext>
            </a:extLst>
          </p:cNvPr>
          <p:cNvSpPr/>
          <p:nvPr/>
        </p:nvSpPr>
        <p:spPr>
          <a:xfrm>
            <a:off x="7523430" y="1946495"/>
            <a:ext cx="1131683" cy="4436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65E4B-35E2-01F8-A3EB-15E1624336E8}"/>
              </a:ext>
            </a:extLst>
          </p:cNvPr>
          <p:cNvSpPr txBox="1"/>
          <p:nvPr/>
        </p:nvSpPr>
        <p:spPr>
          <a:xfrm>
            <a:off x="4861711" y="3911097"/>
            <a:ext cx="66995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The above query was designed to identify trending hashtags used in more than 20 posts.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However, the query did not return any results for the given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We then adjusted the post-count threshold from 20 to a range of 1–5 posts.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After lowering the threshold, the query successfully returned results.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This indicates that no hashtags in the dataset were used in more than 20 posts.</a:t>
            </a:r>
          </a:p>
        </p:txBody>
      </p:sp>
    </p:spTree>
    <p:extLst>
      <p:ext uri="{BB962C8B-B14F-4D97-AF65-F5344CB8AC3E}">
        <p14:creationId xmlns:p14="http://schemas.microsoft.com/office/powerpoint/2010/main" val="249687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D297-2AD9-B4FA-DBAD-52BD2B72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Influencers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1FB94-EF8C-46C2-1E3D-ADC9FC752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345" y="4017570"/>
            <a:ext cx="2962275" cy="2190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A2AB3-4338-C186-48A1-4C20EFCF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670" y="558344"/>
            <a:ext cx="3028950" cy="277177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FA5815-0BD3-E9BA-6E40-36B1BA5EE85C}"/>
              </a:ext>
            </a:extLst>
          </p:cNvPr>
          <p:cNvSpPr/>
          <p:nvPr/>
        </p:nvSpPr>
        <p:spPr>
          <a:xfrm>
            <a:off x="4834551" y="1204111"/>
            <a:ext cx="2353901" cy="9777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Used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38DA50-F1E1-B60F-8CF9-5D467B5F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891" y="1443040"/>
            <a:ext cx="1158340" cy="499915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BD0C19FA-5EB2-54DD-D847-AED5F38EDC35}"/>
              </a:ext>
            </a:extLst>
          </p:cNvPr>
          <p:cNvSpPr/>
          <p:nvPr/>
        </p:nvSpPr>
        <p:spPr>
          <a:xfrm>
            <a:off x="9895438" y="3378829"/>
            <a:ext cx="461726" cy="5900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4D69C-0B8B-523A-4DF4-78F13A827488}"/>
              </a:ext>
            </a:extLst>
          </p:cNvPr>
          <p:cNvSpPr txBox="1"/>
          <p:nvPr/>
        </p:nvSpPr>
        <p:spPr>
          <a:xfrm>
            <a:off x="4690266" y="2706987"/>
            <a:ext cx="36710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accent4">
                    <a:lumMod val="50000"/>
                  </a:schemeClr>
                </a:solidFill>
              </a:rPr>
              <a:t>Used Self Join and Aggregation to identify the Top 10 influencers based on their follower count.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accent4">
                    <a:lumMod val="50000"/>
                  </a:schemeClr>
                </a:solidFill>
              </a:rPr>
              <a:t>Using the schema, the followers table already represents a user-to-user relationship, so we can join it with users and aggregate follower counts.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accent4">
                    <a:lumMod val="50000"/>
                  </a:schemeClr>
                </a:solidFill>
              </a:rPr>
              <a:t>The results are ranked in descending order, from the highest to the lowest number of followers.</a:t>
            </a:r>
          </a:p>
        </p:txBody>
      </p:sp>
    </p:spTree>
    <p:extLst>
      <p:ext uri="{BB962C8B-B14F-4D97-AF65-F5344CB8AC3E}">
        <p14:creationId xmlns:p14="http://schemas.microsoft.com/office/powerpoint/2010/main" val="150332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37BA95-F3DC-DE56-150B-ACA9F967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52674"/>
            <a:ext cx="10571998" cy="534154"/>
          </a:xfrm>
        </p:spPr>
        <p:txBody>
          <a:bodyPr/>
          <a:lstStyle/>
          <a:p>
            <a:r>
              <a:rPr lang="en-US" dirty="0"/>
              <a:t>User-Follower Interaction Analysis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D09401-7C9F-7193-668A-E9A1A12FD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53" y="1406287"/>
            <a:ext cx="5092101" cy="1647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33265C-E4C2-86D8-4DFE-B0F18384D34B}"/>
              </a:ext>
            </a:extLst>
          </p:cNvPr>
          <p:cNvSpPr/>
          <p:nvPr/>
        </p:nvSpPr>
        <p:spPr>
          <a:xfrm>
            <a:off x="539154" y="994889"/>
            <a:ext cx="5092101" cy="2987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Users who follow others but never interacted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1EE6D9-2B6E-1ADE-AF4F-8C492E71C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3" y="4142072"/>
            <a:ext cx="5162874" cy="16311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F90E3ED-3F3F-6B0B-D289-89063B2E17C0}"/>
              </a:ext>
            </a:extLst>
          </p:cNvPr>
          <p:cNvSpPr/>
          <p:nvPr/>
        </p:nvSpPr>
        <p:spPr>
          <a:xfrm>
            <a:off x="476151" y="3705960"/>
            <a:ext cx="5246012" cy="2987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who follow other and have interacted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982D22-B015-3E7A-C7E2-ADB8D1320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058" y="1938930"/>
            <a:ext cx="3665404" cy="2203142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51F06E12-B891-6E8E-948A-CBC3A3F90A68}"/>
              </a:ext>
            </a:extLst>
          </p:cNvPr>
          <p:cNvSpPr/>
          <p:nvPr/>
        </p:nvSpPr>
        <p:spPr>
          <a:xfrm>
            <a:off x="5848539" y="2951430"/>
            <a:ext cx="1104522" cy="6956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DAE826-C3B5-F104-3D1F-74448B431B1C}"/>
              </a:ext>
            </a:extLst>
          </p:cNvPr>
          <p:cNvSpPr txBox="1"/>
          <p:nvPr/>
        </p:nvSpPr>
        <p:spPr>
          <a:xfrm>
            <a:off x="5984341" y="4445251"/>
            <a:ext cx="57209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We were able to identify user interaction status and classify users into two categories: Interacted vs. Never Interacted.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analysis shows that the percentage of interacted users is higher than that of never-interacted users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5" name="Plus Sign 24">
            <a:extLst>
              <a:ext uri="{FF2B5EF4-FFF2-40B4-BE49-F238E27FC236}">
                <a16:creationId xmlns:a16="http://schemas.microsoft.com/office/drawing/2014/main" id="{93C9B175-A153-98BC-E57F-FEAABD1950B6}"/>
              </a:ext>
            </a:extLst>
          </p:cNvPr>
          <p:cNvSpPr/>
          <p:nvPr/>
        </p:nvSpPr>
        <p:spPr>
          <a:xfrm>
            <a:off x="2592163" y="3112989"/>
            <a:ext cx="506994" cy="487424"/>
          </a:xfrm>
          <a:prstGeom prst="mathPlus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28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5244-E501-5655-7A22-960BC416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95678"/>
            <a:ext cx="10571998" cy="563578"/>
          </a:xfrm>
        </p:spPr>
        <p:txBody>
          <a:bodyPr/>
          <a:lstStyle/>
          <a:p>
            <a:r>
              <a:rPr lang="en-US" dirty="0"/>
              <a:t>Engagement Score per Hashtag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90D8B-7E46-8F3E-FF17-2C2F44670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99" y="1248017"/>
            <a:ext cx="4167612" cy="298005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C420D10-ABDE-44D7-7663-648D9C7E7B9B}"/>
              </a:ext>
            </a:extLst>
          </p:cNvPr>
          <p:cNvSpPr/>
          <p:nvPr/>
        </p:nvSpPr>
        <p:spPr>
          <a:xfrm>
            <a:off x="5244975" y="2435331"/>
            <a:ext cx="851025" cy="669957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6CE23-E074-06D7-06FC-091A39923707}"/>
              </a:ext>
            </a:extLst>
          </p:cNvPr>
          <p:cNvSpPr txBox="1"/>
          <p:nvPr/>
        </p:nvSpPr>
        <p:spPr>
          <a:xfrm>
            <a:off x="810001" y="4481364"/>
            <a:ext cx="10687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Engagement Rate </a:t>
            </a:r>
            <a:r>
              <a:rPr lang="en-IN" dirty="0"/>
              <a:t>can be calculated as: (Total Likes + Total Comments) / Total Posts.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We used a multi-table JOIN to calculate the engagement rate, which returned 642 Hashtags.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Since the complete query output could not be presented, the results were grouped into engagement score ranges, from 0 to greater than 10, for easier analysis and visualization.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BBDD71-A547-3057-52B4-76E4C927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8017"/>
            <a:ext cx="5285999" cy="30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50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71DD-659E-1B23-47C9-1D49664DF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688948"/>
            <a:ext cx="3990110" cy="578536"/>
          </a:xfrm>
        </p:spPr>
        <p:txBody>
          <a:bodyPr/>
          <a:lstStyle/>
          <a:p>
            <a:r>
              <a:rPr lang="en-US" dirty="0"/>
              <a:t>Posting Activity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BFDB7-BF72-2510-7609-860C7642C64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017786" y="619219"/>
            <a:ext cx="5389330" cy="1615580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1E22D2-83C9-E935-3BEB-2E68A0602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786" y="2791195"/>
            <a:ext cx="5389331" cy="3664014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0C0C82B3-271C-8751-F190-560DD8D34F48}"/>
              </a:ext>
            </a:extLst>
          </p:cNvPr>
          <p:cNvSpPr/>
          <p:nvPr/>
        </p:nvSpPr>
        <p:spPr>
          <a:xfrm>
            <a:off x="8392562" y="2234799"/>
            <a:ext cx="660903" cy="5563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82A0E-9A6F-970C-5A40-0D75794BF8C0}"/>
              </a:ext>
            </a:extLst>
          </p:cNvPr>
          <p:cNvSpPr txBox="1"/>
          <p:nvPr/>
        </p:nvSpPr>
        <p:spPr>
          <a:xfrm>
            <a:off x="697117" y="1430448"/>
            <a:ext cx="36938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Used GROUP BY and date functions to identify the busiest posting periods.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analysis combines day of the week and time of day to determine when users are most active.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Tuesday recorded the highest number of 153 posts among all weekdays.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average number of posts per day is 35.71 across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6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AE2D-E02A-8D8D-D340-0CF21286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Inactive Users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1D2F0-DC1F-E114-0BAF-C6C796961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466" y="621858"/>
            <a:ext cx="2454998" cy="2959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1CF098-17B4-BA60-5EF6-A090387CD3D7}"/>
              </a:ext>
            </a:extLst>
          </p:cNvPr>
          <p:cNvSpPr/>
          <p:nvPr/>
        </p:nvSpPr>
        <p:spPr>
          <a:xfrm>
            <a:off x="4839592" y="1557197"/>
            <a:ext cx="1502875" cy="10411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Used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0454B82-8C57-2699-6800-37E0CF91846C}"/>
              </a:ext>
            </a:extLst>
          </p:cNvPr>
          <p:cNvSpPr/>
          <p:nvPr/>
        </p:nvSpPr>
        <p:spPr>
          <a:xfrm>
            <a:off x="7068751" y="1875095"/>
            <a:ext cx="1258431" cy="452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C8C61-B4FD-B5F3-5C7D-FA00EF569CC6}"/>
              </a:ext>
            </a:extLst>
          </p:cNvPr>
          <p:cNvSpPr txBox="1"/>
          <p:nvPr/>
        </p:nvSpPr>
        <p:spPr>
          <a:xfrm>
            <a:off x="4934139" y="4173648"/>
            <a:ext cx="65743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Used LEFT JOIN and NULL filters to identify inactive users from the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The analysis identified 47 inactive users who had not created posts, liked posts, or commented.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50000"/>
                  </a:schemeClr>
                </a:solidFill>
              </a:rPr>
              <a:t>These users showed no recorded engagement activity within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590474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1DB7927-705F-EDF9-7507-4D45408C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85" y="1015085"/>
            <a:ext cx="5442735" cy="562200"/>
          </a:xfrm>
        </p:spPr>
        <p:txBody>
          <a:bodyPr/>
          <a:lstStyle/>
          <a:p>
            <a:r>
              <a:rPr lang="en-US" dirty="0"/>
              <a:t>Top 10 countries with most influencers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D6412F-780C-CD2B-0687-3069AB8C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632" y="4034131"/>
            <a:ext cx="2305050" cy="2343150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E1178262-7F09-C7C1-2885-23CE42B56F6A}"/>
              </a:ext>
            </a:extLst>
          </p:cNvPr>
          <p:cNvSpPr/>
          <p:nvPr/>
        </p:nvSpPr>
        <p:spPr>
          <a:xfrm>
            <a:off x="9338082" y="3339862"/>
            <a:ext cx="561315" cy="5183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5F740-E333-A6EB-98A2-B3362B8C6FE6}"/>
              </a:ext>
            </a:extLst>
          </p:cNvPr>
          <p:cNvSpPr txBox="1"/>
          <p:nvPr/>
        </p:nvSpPr>
        <p:spPr>
          <a:xfrm>
            <a:off x="633743" y="1936028"/>
            <a:ext cx="68353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Multi Join &amp; Aggregation to find top 10 countries with most influencers.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Gambia leads with 9 distinct followed users, making it the highest in the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French Polynesia ranks second with 8 distinct followed users.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Iraq, Spain, and Burkina Faso follow with 7 users each.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Russian Federation, Brunei Darussalam, Gabon, and Brazil recorded 6 distinct followed users each.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Finland has 5 distinct followed users, the lowest among the countries shown.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Overall, the difference between the highest and lowest values is relatively small (9 vs. 5), indicating a fairly close distribution among these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DBA70-87C2-1ABB-4EB8-392E7408C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701" y="480719"/>
            <a:ext cx="44100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01BA-6B9E-B185-E7B5-FB2E9C3E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85800"/>
            <a:ext cx="10571998" cy="454937"/>
          </a:xfrm>
        </p:spPr>
        <p:txBody>
          <a:bodyPr/>
          <a:lstStyle/>
          <a:p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201A5-69A6-953C-69E5-8F252F20B9AE}"/>
              </a:ext>
            </a:extLst>
          </p:cNvPr>
          <p:cNvSpPr txBox="1"/>
          <p:nvPr/>
        </p:nvSpPr>
        <p:spPr>
          <a:xfrm>
            <a:off x="810001" y="1647731"/>
            <a:ext cx="107331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overall engagement rate for the dataset is 2.0, based on the defined engagement formula.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 learned that query optimization is not only about making SQL run </a:t>
            </a:r>
            <a:r>
              <a:rPr lang="en-IN" dirty="0" err="1"/>
              <a:t>faster,it</a:t>
            </a:r>
            <a:r>
              <a:rPr lang="en-IN" dirty="0"/>
              <a:t> is also about reducing unnecessary processing, avoiding duplicate results, and writing queries that are clear, accurate, and efficient.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biggest challenge was ensuring that complex joins and aggregations produced accurate results without duplicate or inflated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 AI acted as a learning and problem-solving assistant, helping me understand the data, build SQL solutions, validate results, and present insights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 AI vs. Written Queries: Gen AI is becoming an integral part of our day-to-day work. However, understanding how to write clear and effective prompts is essential to ensure that the results generated are accurate, relevant, and aligned with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2572255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D004-CD8F-E1D8-EA59-AE2BB431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8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{16B0232C-64F7-4FD9-BD69-4FB83880551B}TF4e23ad37-c1a6-42e6-a6ec-6518d97eca9ec3cad5d6_win32-e4fb00466b0d</Template>
  <TotalTime>307</TotalTime>
  <Words>982</Words>
  <Application>Microsoft Office PowerPoint</Application>
  <PresentationFormat>Widescreen</PresentationFormat>
  <Paragraphs>89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Century Gothic</vt:lpstr>
      <vt:lpstr>Times New Roman</vt:lpstr>
      <vt:lpstr>Wingdings 2</vt:lpstr>
      <vt:lpstr>Quotable</vt:lpstr>
      <vt:lpstr>Beyond the Likes:  Social Media Analytics</vt:lpstr>
      <vt:lpstr>Introduction</vt:lpstr>
      <vt:lpstr>Key  Objectives</vt:lpstr>
      <vt:lpstr>Most Active Users</vt:lpstr>
      <vt:lpstr>Type of End user</vt:lpstr>
      <vt:lpstr>Most Liked Post &amp; their Creators</vt:lpstr>
      <vt:lpstr>Top 5 Countries by Average Engagement </vt:lpstr>
      <vt:lpstr>Trending Hashtags</vt:lpstr>
      <vt:lpstr>Top Influencers</vt:lpstr>
      <vt:lpstr>User-Follower Interaction Analysis</vt:lpstr>
      <vt:lpstr>Engagement Score per Hashtag</vt:lpstr>
      <vt:lpstr>Posting Activity</vt:lpstr>
      <vt:lpstr>Inactive Users</vt:lpstr>
      <vt:lpstr>Top 10 countries with most influencers</vt:lpstr>
      <vt:lpstr>Key Takeaways</vt:lpstr>
      <vt:lpstr>Q &amp; 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17</cp:revision>
  <dcterms:created xsi:type="dcterms:W3CDTF">2026-09-05T18:09:13Z</dcterms:created>
  <dcterms:modified xsi:type="dcterms:W3CDTF">2026-09-06T07:32:05Z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